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6" y="1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83227" y="2991172"/>
            <a:ext cx="9144000" cy="1415787"/>
          </a:xfrm>
        </p:spPr>
        <p:txBody>
          <a:bodyPr vert="horz" lIns="121920" tIns="60960" rIns="121920" bIns="60960" rtlCol="0" anchor="b">
            <a:normAutofit/>
          </a:bodyPr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100" dirty="0">
                <a:latin typeface="Times New Roman"/>
                <a:cs typeface="Times New Roman"/>
              </a:rPr>
              <a:t>специальность </a:t>
            </a:r>
            <a:r>
              <a:rPr lang="ru-RU" sz="2100" b="1" dirty="0">
                <a:latin typeface="Times New Roman"/>
                <a:cs typeface="Times New Roman"/>
              </a:rPr>
              <a:t>09.02.07 Информационные системы и программирование</a:t>
            </a:r>
            <a:endParaRPr lang="ru-RU" sz="2100" dirty="0">
              <a:latin typeface="Times New Roman"/>
              <a:cs typeface="Times New Roman"/>
            </a:endParaRPr>
          </a:p>
          <a:p>
            <a:pPr algn="l"/>
            <a:endParaRPr lang="ru-RU" sz="2100" dirty="0">
              <a:latin typeface="Times New Roman"/>
              <a:cs typeface="Times New Roman"/>
            </a:endParaRPr>
          </a:p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разрабоика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информационной системы для автосервиса</a:t>
            </a:r>
            <a:br>
              <a:rPr lang="ru-RU" dirty="0"/>
            </a:br>
            <a:endParaRPr lang="ru-RU" sz="1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05083" y="4995895"/>
            <a:ext cx="2879163" cy="1655763"/>
          </a:xfrm>
        </p:spPr>
        <p:txBody>
          <a:bodyPr vert="horz" lIns="91440" tIns="45720" rIns="91440" bIns="45720" rtlCol="0" anchor="t">
            <a:normAutofit fontScale="92500"/>
          </a:bodyPr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dirty="0">
                <a:latin typeface="Times New Roman"/>
                <a:cs typeface="Times New Roman"/>
              </a:rPr>
              <a:t>Выполнил: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dirty="0">
                <a:latin typeface="Times New Roman"/>
                <a:cs typeface="Times New Roman"/>
              </a:rPr>
              <a:t>студент группы ИСиП7/8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b="1" dirty="0">
                <a:latin typeface="Times New Roman"/>
                <a:cs typeface="Times New Roman"/>
              </a:rPr>
              <a:t>Захарченко Андрей Андреевич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dirty="0">
                <a:latin typeface="Times New Roman"/>
                <a:cs typeface="Times New Roman"/>
              </a:rPr>
              <a:t>Научный руководитель: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b="1" dirty="0">
                <a:latin typeface="Times New Roman"/>
                <a:cs typeface="Times New Roman"/>
              </a:rPr>
              <a:t>Александр Сергеевич Морозов</a:t>
            </a:r>
            <a:endParaRPr lang="ru-RU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0" y="6282325"/>
            <a:ext cx="718457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3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393290" y="325178"/>
            <a:ext cx="8123879" cy="1529073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351">
                <a:latin typeface="Times New Roman"/>
                <a:cs typeface="Times New Roman"/>
              </a:rPr>
              <a:t>ДЕПАРТАМЕНТ ОБРАЗОВАНИЯ И НАУКИ ГОРОДА МОСКВЫ</a:t>
            </a:r>
          </a:p>
          <a:p>
            <a:pPr algn="ctr"/>
            <a:r>
              <a:rPr lang="ru-RU" sz="1351">
                <a:latin typeface="Times New Roman"/>
                <a:cs typeface="Times New Roman"/>
              </a:rPr>
              <a:t>Государственное бюджетное профессиональное</a:t>
            </a:r>
          </a:p>
          <a:p>
            <a:pPr algn="ctr"/>
            <a:r>
              <a:rPr lang="ru-RU" sz="1351">
                <a:latin typeface="Times New Roman"/>
                <a:cs typeface="Times New Roman"/>
              </a:rPr>
              <a:t>образовательное учреждение города Москвы</a:t>
            </a:r>
          </a:p>
          <a:p>
            <a:pPr algn="ctr"/>
            <a:r>
              <a:rPr lang="ru-RU" sz="1351" b="1">
                <a:latin typeface="Times New Roman"/>
                <a:cs typeface="Times New Roman"/>
              </a:rPr>
              <a:t>«Технологический колледж </a:t>
            </a:r>
            <a:r>
              <a:rPr lang="ru-RU" sz="1351" b="1">
                <a:latin typeface="Times New Roman"/>
                <a:ea typeface="Segoe UI Symbol"/>
                <a:cs typeface="Times New Roman"/>
              </a:rPr>
              <a:t>№</a:t>
            </a:r>
            <a:r>
              <a:rPr lang="ru-RU" sz="1351" b="1">
                <a:latin typeface="Times New Roman"/>
                <a:cs typeface="Times New Roman"/>
              </a:rPr>
              <a:t> 21»</a:t>
            </a:r>
          </a:p>
          <a:p>
            <a:pPr algn="ctr"/>
            <a:br>
              <a:rPr lang="ru-RU" sz="1333">
                <a:latin typeface="Times New Roman"/>
                <a:cs typeface="Times New Roman"/>
              </a:rPr>
            </a:br>
            <a:r>
              <a:rPr lang="ru-RU" sz="2400" b="1">
                <a:latin typeface="Times New Roman"/>
                <a:cs typeface="Times New Roman"/>
              </a:rPr>
              <a:t>ДИПЛОМНАЯ РАБОТА</a:t>
            </a:r>
            <a:r>
              <a:rPr lang="ru-RU" sz="1333">
                <a:latin typeface="Times New Roman"/>
                <a:cs typeface="Times New Roman"/>
              </a:rPr>
              <a:t> </a:t>
            </a:r>
            <a:endParaRPr lang="ru-RU" sz="1333"/>
          </a:p>
        </p:txBody>
      </p:sp>
      <p:pic>
        <p:nvPicPr>
          <p:cNvPr id="6" name="Рисунок 5" descr="C:\Users\svirina\Desktop\Свирина\Мое\Разные картинки и хлам\ТК21 логотип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52" y="325177"/>
            <a:ext cx="600075" cy="60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Актуальность, 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CE4F0"/>
                </a:solidFill>
                <a:latin typeface="Segoe UI"/>
              </a:defRPr>
            </a:pPr>
            <a:r>
              <a:t>Глава 1 · Анализ предметной области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Актуальность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Автосервис «Френch Таун» обслуживает Peugeot, Citroën и Renault. Без единой системы учёт клиентов, заказов и запчастей замедляет работу и повышает риск ошибок при расчёте стоимости ремонта.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486400" cy="6400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Цель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46504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Разработать информационную систему автосервиса «Френch Таун» для учёта клиентов, заказов, услуг и запчастей с разграничением прав доступа.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11155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111556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Задачи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01568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Segoe UI"/>
              </a:defRPr>
            </a:pPr>
            <a:r>
              <a:t>1. Провести анализ предметной области и обзор существующих аналогов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Segoe UI"/>
              </a:defRPr>
            </a:pPr>
            <a:r>
              <a:t>2. Выбрать среду разработки и технологический стек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Segoe UI"/>
              </a:defRPr>
            </a:pPr>
            <a:r>
              <a:t>3. Спроектировать базу данных и реализовать серверную часть на Node.js и Express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Segoe UI"/>
              </a:defRPr>
            </a:pPr>
            <a:r>
              <a:t>4. Разработать веб-приложение на React и провести тестирование системы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Анализ предметной области и аналогов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9326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Решение</a:t>
                      </a:r>
                    </a:p>
                  </a:txBody>
                  <a:tcPr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Стоимость</a:t>
                      </a:r>
                    </a:p>
                  </a:txBody>
                  <a:tcPr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Гибкость</a:t>
                      </a:r>
                    </a:p>
                  </a:txBody>
                  <a:tcPr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Под сервис</a:t>
                      </a:r>
                    </a:p>
                  </a:txBody>
                  <a:tcPr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Выбор</a:t>
                      </a:r>
                    </a:p>
                  </a:txBody>
                  <a:tcPr anchor="ctr"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1С:Автосервис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Частично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AutoDealer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Платная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STO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Платная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Excel / блокнот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Бесплатно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Собственная ИС</a:t>
                      </a:r>
                    </a:p>
                  </a:txBody>
                  <a:tcPr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Бесплатно</a:t>
                      </a:r>
                    </a:p>
                  </a:txBody>
                  <a:tcPr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Да</a:t>
                      </a:r>
                    </a:p>
                  </a:txBody>
                  <a:tcPr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4434840"/>
            <a:ext cx="10972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4434840"/>
            <a:ext cx="109728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59943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Вывод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46904"/>
            <a:ext cx="10607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rPr dirty="0" err="1"/>
              <a:t>Крупные</a:t>
            </a:r>
            <a:r>
              <a:rPr dirty="0"/>
              <a:t> CRM-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избыточны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небольшого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. </a:t>
            </a:r>
            <a:r>
              <a:rPr dirty="0" err="1"/>
              <a:t>Собственная</a:t>
            </a:r>
            <a:r>
              <a:rPr dirty="0"/>
              <a:t> </a:t>
            </a:r>
            <a:r>
              <a:rPr dirty="0" err="1"/>
              <a:t>веб-система</a:t>
            </a:r>
            <a:r>
              <a:rPr dirty="0"/>
              <a:t> </a:t>
            </a:r>
            <a:r>
              <a:rPr dirty="0" err="1"/>
              <a:t>бесплатна</a:t>
            </a:r>
            <a:r>
              <a:rPr dirty="0"/>
              <a:t>, </a:t>
            </a:r>
            <a:r>
              <a:rPr dirty="0" err="1"/>
              <a:t>адаптирована</a:t>
            </a:r>
            <a:r>
              <a:rPr dirty="0"/>
              <a:t> и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контролируется</a:t>
            </a:r>
            <a:r>
              <a:rPr dirty="0"/>
              <a:t> </a:t>
            </a:r>
            <a:r>
              <a:rPr dirty="0" err="1"/>
              <a:t>автосервисом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CE4F0"/>
                </a:solidFill>
                <a:latin typeface="Segoe UI"/>
              </a:defRPr>
            </a:pPr>
            <a:r>
              <a:t>Глава 1 · Выбор технологий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337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971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СУБД · 6 таблиц</a:t>
            </a:r>
            <a:br/>
            <a:r>
              <a:t>PK/FK связи · DECIMAL для сумм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23444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234440"/>
            <a:ext cx="3337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3990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46504"/>
            <a:ext cx="2971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Серверный JavaScript</a:t>
            </a:r>
            <a:br/>
            <a:r>
              <a:t>Единый язык с фронтендом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23444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234440"/>
            <a:ext cx="3337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13990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746504"/>
            <a:ext cx="2971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REST-API</a:t>
            </a:r>
            <a:br/>
            <a:r>
              <a:t>/api/orders · /api/clients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2044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520440"/>
            <a:ext cx="3337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850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32504"/>
            <a:ext cx="2971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Интерфейс пользователя</a:t>
            </a:r>
            <a:br/>
            <a:r>
              <a:t>Роли: admin, master, client, guest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52044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69080" y="3520440"/>
            <a:ext cx="3337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60" y="36850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032504"/>
            <a:ext cx="2971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Сборка фронтенда</a:t>
            </a:r>
            <a:br/>
            <a:r>
              <a:t>Быстрая разработка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352044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3520440"/>
            <a:ext cx="3337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36850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JavaScript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032504"/>
            <a:ext cx="2971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server.js + App.jsx</a:t>
            </a:r>
            <a:br/>
            <a:r>
              <a:t>Простое сопровождение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8064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A3A6B"/>
                </a:solidFill>
                <a:latin typeface="Segoe UI"/>
              </a:defRPr>
            </a:pPr>
            <a:r>
              <a:t>Архитектура:  React  →  HTTP  →  Express  → 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Проектирование базы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CE4F0"/>
                </a:solidFill>
                <a:latin typeface="Segoe UI"/>
              </a:defRPr>
            </a:pPr>
            <a:r>
              <a:t>Глава 2 · Модель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2004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2004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Таблицы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8346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clients — клиенты и авто</a:t>
            </a:r>
            <a:br/>
            <a:br/>
            <a:r>
              <a:t>orders — заказ-наряды</a:t>
            </a:r>
            <a:br/>
            <a:br/>
            <a:r>
              <a:t>order_parts — запчасти в заказе</a:t>
            </a:r>
            <a:br/>
            <a:br/>
            <a:r>
              <a:t>parts — справочник запчастей</a:t>
            </a:r>
            <a:br/>
            <a:br/>
            <a:r>
              <a:t>services — каталог услуг</a:t>
            </a:r>
            <a:br/>
            <a:br/>
            <a:r>
              <a:t>users — пользователи системы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7726679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7726679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417320"/>
            <a:ext cx="7452360" cy="45433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Реализация серверной части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CE4F0"/>
                </a:solidFill>
                <a:latin typeface="Segoe UI"/>
              </a:defRPr>
            </a:pPr>
            <a:r>
              <a:t>server.js · Node.js + Express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43891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38912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REST-API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4023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• Подключение к PostgreSQL (Pool)</a:t>
            </a:r>
            <a:br/>
            <a:r>
              <a:t>• Настройки в файле .env</a:t>
            </a:r>
            <a:br/>
            <a:r>
              <a:t>• /api/login, /api/register</a:t>
            </a:r>
            <a:br/>
            <a:r>
              <a:t>• CRUD: clients, orders, services, parts</a:t>
            </a:r>
            <a:br/>
            <a:r>
              <a:t>• POST /api/orders — расчёт</a:t>
            </a:r>
            <a:br/>
            <a:r>
              <a:t>  parts_cost и total_cost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6537960" cy="45425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Реализация клиентской части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CE4F0"/>
                </a:solidFill>
                <a:latin typeface="Segoe UI"/>
              </a:defRPr>
            </a:pPr>
            <a:r>
              <a:t>App.jsx · React + Vite</a:t>
            </a:r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00800" cy="35941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78040" y="1234440"/>
            <a:ext cx="4480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78040" y="1234440"/>
            <a:ext cx="4480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3990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Роли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746504"/>
            <a:ext cx="41148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admin — полный доступ</a:t>
            </a:r>
            <a:br/>
            <a:r>
              <a:t>master — работа с заказами</a:t>
            </a:r>
            <a:br/>
            <a:r>
              <a:t>client — свои заказы</a:t>
            </a:r>
            <a:br/>
            <a:r>
              <a:t>guest — просмотр услуг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3749039"/>
            <a:ext cx="4480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78040" y="3749039"/>
            <a:ext cx="448056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3913631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Разделы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261103"/>
            <a:ext cx="41148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• Вход и регистрация</a:t>
            </a:r>
            <a:br/>
            <a:r>
              <a:t>• Создание заказа</a:t>
            </a:r>
            <a:br/>
            <a:r>
              <a:t>• Список заказов</a:t>
            </a:r>
            <a:br/>
            <a:r>
              <a:t>• Прайс-лист услуг</a:t>
            </a:r>
            <a:br/>
            <a:r>
              <a:t>• Клиенты и запчасти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Демонстрация интерфейса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743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44168"/>
            <a:ext cx="2596896" cy="23343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486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Segoe UI"/>
              </a:defRPr>
            </a:pPr>
            <a:r>
              <a:t>Вход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2743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344168"/>
            <a:ext cx="2596896" cy="21683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83280" y="5486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Segoe UI"/>
              </a:defRPr>
            </a:pPr>
            <a:r>
              <a:t>Прайс-лист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2743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344168"/>
            <a:ext cx="2596896" cy="1339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5486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Segoe UI"/>
              </a:defRPr>
            </a:pPr>
            <a:r>
              <a:t>Создание заказа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34440"/>
            <a:ext cx="2514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1234440"/>
            <a:ext cx="25146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2" y="1344168"/>
            <a:ext cx="2368296" cy="7817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0" y="54864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Segoe UI"/>
              </a:defRPr>
            </a:pPr>
            <a:r>
              <a:t>Список заказов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Интерфейс выполнен в фирменных цветах автосервиса: синий topbar, белые карточки, красные акценты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Тестирование программного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CE4F0"/>
                </a:solidFill>
                <a:latin typeface="Segoe UI"/>
              </a:defRPr>
            </a:pPr>
            <a:r>
              <a:t>Глава 2 · Проверка работоспособности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406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Авторизация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5074920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Вход admin / master / client, проверка ролей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4406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9903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Заказы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46504"/>
            <a:ext cx="5074920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Создание заказа с услугой и запчастями, расчёт суммы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54406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95344"/>
            <a:ext cx="5074920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Добавление клиентов, услуг и запчастей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383280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383280"/>
            <a:ext cx="54406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5478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Интерфейс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95344"/>
            <a:ext cx="5074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rPr dirty="0" err="1"/>
              <a:t>Корректное</a:t>
            </a:r>
            <a:r>
              <a:rPr dirty="0"/>
              <a:t> </a:t>
            </a:r>
            <a:r>
              <a:rPr dirty="0" err="1"/>
              <a:t>отображение</a:t>
            </a:r>
            <a:r>
              <a:rPr dirty="0"/>
              <a:t> в </a:t>
            </a:r>
            <a:r>
              <a:rPr dirty="0" err="1"/>
              <a:t>браузере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532120"/>
            <a:ext cx="11155680" cy="6400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6967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3A6B"/>
                </a:solidFill>
                <a:latin typeface="Segoe UI"/>
              </a:defRPr>
            </a:pPr>
            <a:r>
              <a:t>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441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Segoe UI"/>
              </a:defRPr>
            </a:pPr>
            <a:r>
              <a:t>Все основные сценарии выполняются без ошибок. Система готова к использованию в автосервисе «Френch Таун».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033272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1033272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9692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Segoe UI"/>
              </a:defRPr>
            </a:pPr>
            <a:r>
              <a:t>Проведён анализ предметной области автосервиса и обзор аналогов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Segoe UI"/>
              </a:defRPr>
            </a:pPr>
            <a:r>
              <a:t>Спроектирована база данных из 6 таблиц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Segoe UI"/>
              </a:defRPr>
            </a:pPr>
            <a:r>
              <a:t>Разработана веб-система на PostgreSQL, Node.js, Express и React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Segoe UI"/>
              </a:defRPr>
            </a:pPr>
            <a:r>
              <a:t>Реализованы учёт заказов, клиентов, услуг и запчастей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Segoe UI"/>
              </a:defRPr>
            </a:pPr>
            <a:r>
              <a:t>Проведено тестирование — цель работы достигнута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605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Перспективы: печать заказ-нарядов, SMS-уведомления клиентам, интеграция с 1С, мобильная версия приложения.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613</Words>
  <Application>Microsoft Office PowerPoint</Application>
  <PresentationFormat>Широкоэкранный</PresentationFormat>
  <Paragraphs>113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Times New Roman</vt:lpstr>
      <vt:lpstr>Office Theme</vt:lpstr>
      <vt:lpstr>специальность 09.02.07 Информационные системы и программирование  Проектирование и разрабоика информационной системы для автосервиса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специальность 09.02.07 Информационные системы и программирование  Проектирование и разрабоика информационной системы для автосервиса </dc:title>
  <dc:subject/>
  <dc:creator/>
  <cp:keywords/>
  <dc:description>generated using python-pptx</dc:description>
  <cp:lastModifiedBy>Андрей Мартынов</cp:lastModifiedBy>
  <cp:revision>2</cp:revision>
  <dcterms:created xsi:type="dcterms:W3CDTF">2013-01-27T09:14:16Z</dcterms:created>
  <dcterms:modified xsi:type="dcterms:W3CDTF">2026-06-23T22:02:50Z</dcterms:modified>
  <cp:category/>
</cp:coreProperties>
</file>